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Abadi" panose="020B0604020104020204" pitchFamily="34" charset="0"/>
      <p:regular r:id="rId12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E4BD"/>
    <a:srgbClr val="AFCBF8"/>
    <a:srgbClr val="D8AFF8"/>
    <a:srgbClr val="FAA1A1"/>
    <a:srgbClr val="FCEC99"/>
    <a:srgbClr val="F2F2F2"/>
    <a:srgbClr val="FFD1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563" autoAdjust="0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31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4437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D1A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EC9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A1A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8AF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FC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EE4BD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7488" y="1817013"/>
            <a:ext cx="4919305" cy="459545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1960364"/>
            <a:ext cx="7556421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Fake Social Media Account Detection Using Machine Learning</a:t>
            </a:r>
            <a:endParaRPr lang="en-US" sz="2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793790" y="3151108"/>
            <a:ext cx="75564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 Supervised Learning Approach Using Metadata &amp; Behavioral Features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793790" y="4313277"/>
            <a:ext cx="75564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793790" y="502193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Akshat Garg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793790" y="546413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Aayush Verma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793790" y="590633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Akshat Arora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1260" y="2476500"/>
            <a:ext cx="3611880" cy="3276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828913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Project Outline</a:t>
            </a:r>
            <a:endParaRPr lang="en-US" sz="3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793790" y="1668066"/>
            <a:ext cx="7556421" cy="870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Introduction &amp; Background</a:t>
            </a: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Understanding the problem of fake social media accounts and why detection is needed.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793790" y="2602349"/>
            <a:ext cx="755642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Dataset Overview</a:t>
            </a: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Description of data source, features, and initial challenges.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793790" y="3246358"/>
            <a:ext cx="755642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Data Preprocessing &amp; Cleaning</a:t>
            </a: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Handling missing values, encoding categorical features, and preparing data for ML.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793790" y="3890367"/>
            <a:ext cx="755642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Feature Engineering</a:t>
            </a: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Creating meaningful metadata and behavioral features for detection.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793790" y="4534376"/>
            <a:ext cx="755642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Model Development</a:t>
            </a: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Training Logistic Regression, Decision Tree, and Random Forest classifiers.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793790" y="5178385"/>
            <a:ext cx="755642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Model Evaluation</a:t>
            </a: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Confusion matrix, accuracy, recall, feature importance, and ROC-AUC analysis.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93790" y="5822394"/>
            <a:ext cx="755642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Limitations</a:t>
            </a: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Challenges and constraints faced in the project.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793790" y="6466403"/>
            <a:ext cx="755642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Conclusion</a:t>
            </a:r>
            <a:r>
              <a:rPr lang="en-US" sz="14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Summary of outcomes and learnings.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793790" y="7110413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References &amp; Acknowledgement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E0109E-5D85-9A95-1386-5FD1FA048DE4}"/>
              </a:ext>
            </a:extLst>
          </p:cNvPr>
          <p:cNvSpPr txBox="1"/>
          <p:nvPr/>
        </p:nvSpPr>
        <p:spPr>
          <a:xfrm>
            <a:off x="12667785" y="7649737"/>
            <a:ext cx="1962615" cy="579863"/>
          </a:xfrm>
          <a:prstGeom prst="rect">
            <a:avLst/>
          </a:prstGeom>
          <a:solidFill>
            <a:srgbClr val="FFD1A7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0915"/>
            <a:ext cx="682216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Background of the Project</a:t>
            </a:r>
            <a:endParaRPr lang="en-US" sz="4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755219"/>
            <a:ext cx="13042821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Social media platforms face a growing challenge with </a:t>
            </a:r>
            <a:r>
              <a:rPr lang="en-US" sz="165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fake, bot, and spam accounts</a:t>
            </a:r>
            <a:r>
              <a:rPr lang="en-US" sz="16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used for misinformation, scams, manipulation, and automated activity.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687241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Manual detection is </a:t>
            </a:r>
            <a:r>
              <a:rPr lang="en-US" sz="165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slow, inconsistent, and cannot scale</a:t>
            </a:r>
            <a:r>
              <a:rPr lang="en-US" sz="16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to millions of users.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3107412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Machine Learning provides a </a:t>
            </a:r>
            <a:r>
              <a:rPr lang="en-US" sz="165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fast, automated, and reliable</a:t>
            </a:r>
            <a:r>
              <a:rPr lang="en-US" sz="16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solution by learning patterns in: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3527584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account metadata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3947755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user behavior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90" y="4367927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posting activity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93790" y="4788098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verification and profile completeness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93790" y="5208270"/>
            <a:ext cx="13042821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The project objective is to develop a </a:t>
            </a:r>
            <a:r>
              <a:rPr lang="en-US" sz="165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supervised machine learning model</a:t>
            </a:r>
            <a:r>
              <a:rPr lang="en-US" sz="16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that can classify accounts as </a:t>
            </a:r>
            <a:r>
              <a:rPr lang="en-US" sz="165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Real or Fake</a:t>
            </a:r>
            <a:r>
              <a:rPr lang="en-US" sz="16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based on structured information.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3790" y="5973247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This system can assist platforms in: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93790" y="6393418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improving user authenticity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93790" y="6813590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reducing spam and fraud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3790" y="7233761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enhancing safety and trust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B67209-97E2-9B91-2383-9867D7F76BC4}"/>
              </a:ext>
            </a:extLst>
          </p:cNvPr>
          <p:cNvSpPr txBox="1"/>
          <p:nvPr/>
        </p:nvSpPr>
        <p:spPr>
          <a:xfrm>
            <a:off x="12667785" y="7649737"/>
            <a:ext cx="1962615" cy="579863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9500"/>
            <a:ext cx="6441519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Project Development Workflow</a:t>
            </a:r>
            <a:endParaRPr lang="en-US" sz="3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631275"/>
            <a:ext cx="130428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Step 1: Dataset Acquisition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094786"/>
            <a:ext cx="130428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Collected structured social-media metadata from a publicly available Kaggle dataset.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2426494"/>
            <a:ext cx="130428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Included features like verification status, follower count, profile completeness, and posting activity.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2890004"/>
            <a:ext cx="130428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Step 2: Data Exploration &amp; Analysis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3353514"/>
            <a:ext cx="130428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Inspected feature types, missing values, and data distribution.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90" y="3685223"/>
            <a:ext cx="130428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Identified heavy NaN presence in behavioral/posting features and inconsistent object columns.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93790" y="4148733"/>
            <a:ext cx="130428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Step 3: Data Cleaning &amp; Preprocessing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93790" y="4612243"/>
            <a:ext cx="130428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Dropped non-useful columns (e.g., </a:t>
            </a:r>
            <a:r>
              <a:rPr lang="en-US" sz="1300" dirty="0">
                <a:solidFill>
                  <a:srgbClr val="272525"/>
                </a:solidFill>
                <a:highlight>
                  <a:srgbClr val="EFDF8C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city</a:t>
            </a:r>
            <a:r>
              <a:rPr lang="en-US" sz="13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with 100% missing values).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3790" y="4943951"/>
            <a:ext cx="130428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Converted all categorical/boolean fields to numeric (0/1).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93790" y="5275659"/>
            <a:ext cx="130428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Filled missing activity-based fields with 0 (inactive account behavior).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93790" y="5607368"/>
            <a:ext cx="130428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Filled remaining numeric NaNs with column means.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3790" y="5939076"/>
            <a:ext cx="130428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Ensured entire dataset became </a:t>
            </a:r>
            <a:r>
              <a:rPr lang="en-US" sz="13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100% ML-usable</a:t>
            </a:r>
            <a:r>
              <a:rPr lang="en-US" sz="13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after cleaning.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93790" y="6402586"/>
            <a:ext cx="130428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Step 4: Feature Engineering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93790" y="6866096"/>
            <a:ext cx="130428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Organized features into groups: metadata, behavioral, engagement, and permissions.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93790" y="7197804"/>
            <a:ext cx="130428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Standardized and structured features to improve model learning efficiency.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BD2B92-E09E-F89C-7F8C-A1C2CB60D6B3}"/>
              </a:ext>
            </a:extLst>
          </p:cNvPr>
          <p:cNvSpPr txBox="1"/>
          <p:nvPr/>
        </p:nvSpPr>
        <p:spPr>
          <a:xfrm>
            <a:off x="12667785" y="7649737"/>
            <a:ext cx="1962615" cy="579863"/>
          </a:xfrm>
          <a:prstGeom prst="rect">
            <a:avLst/>
          </a:prstGeom>
          <a:solidFill>
            <a:srgbClr val="FCEC99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1778"/>
            <a:ext cx="130428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Step 5: Train–Test Split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288733"/>
            <a:ext cx="130428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Divided dataset using 80/20 split with </a:t>
            </a:r>
            <a:r>
              <a:rPr lang="en-US" sz="1250" dirty="0">
                <a:solidFill>
                  <a:srgbClr val="272525"/>
                </a:solidFill>
                <a:highlight>
                  <a:srgbClr val="ED9494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stratify=y</a:t>
            </a:r>
            <a:r>
              <a:rPr lang="en-US" sz="12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and </a:t>
            </a:r>
            <a:r>
              <a:rPr lang="en-US" sz="1250" dirty="0">
                <a:solidFill>
                  <a:srgbClr val="272525"/>
                </a:solidFill>
                <a:highlight>
                  <a:srgbClr val="ED9494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random_state=42</a:t>
            </a:r>
            <a:r>
              <a:rPr lang="en-US" sz="12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for reproducibility.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1721406"/>
            <a:ext cx="130428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Step 6: Model Training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2154079"/>
            <a:ext cx="130428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Implemented and tested multiple models: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2463641"/>
            <a:ext cx="130428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Logistic Regression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2773204"/>
            <a:ext cx="130428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Decision Tree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90" y="3082766"/>
            <a:ext cx="130428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Random Forest (best performer)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93790" y="3392329"/>
            <a:ext cx="130428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Tuned parameters like </a:t>
            </a:r>
            <a:r>
              <a:rPr lang="en-US" sz="1250" dirty="0">
                <a:solidFill>
                  <a:srgbClr val="272525"/>
                </a:solidFill>
                <a:highlight>
                  <a:srgbClr val="ED9494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max_depth</a:t>
            </a:r>
            <a:r>
              <a:rPr lang="en-US" sz="12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, </a:t>
            </a:r>
            <a:r>
              <a:rPr lang="en-US" sz="1250" dirty="0">
                <a:solidFill>
                  <a:srgbClr val="272525"/>
                </a:solidFill>
                <a:highlight>
                  <a:srgbClr val="ED9494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n_estimators</a:t>
            </a:r>
            <a:r>
              <a:rPr lang="en-US" sz="12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, and seed values.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93790" y="3825002"/>
            <a:ext cx="130428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Step 7: Model Evaluation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3790" y="4257675"/>
            <a:ext cx="130428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Generated accuracy, precision, recall, F1-score.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93790" y="4567238"/>
            <a:ext cx="130428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Created confusion matrices, ROC curves, and AUC score.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93790" y="4876800"/>
            <a:ext cx="130428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Random Forest achieved </a:t>
            </a:r>
            <a:r>
              <a:rPr lang="en-US" sz="125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~96% accuracy and AUC = 0.99</a:t>
            </a:r>
            <a:r>
              <a:rPr lang="en-US" sz="12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3790" y="5309473"/>
            <a:ext cx="130428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Step 8: Feature Importance Analysis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93790" y="5742146"/>
            <a:ext cx="130428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Identified key predictors like: </a:t>
            </a:r>
            <a:r>
              <a:rPr lang="en-US" sz="1250" dirty="0">
                <a:solidFill>
                  <a:srgbClr val="272525"/>
                </a:solidFill>
                <a:highlight>
                  <a:srgbClr val="ED9494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has_photo</a:t>
            </a:r>
            <a:r>
              <a:rPr lang="en-US" sz="12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, </a:t>
            </a:r>
            <a:r>
              <a:rPr lang="en-US" sz="1250" dirty="0">
                <a:solidFill>
                  <a:srgbClr val="272525"/>
                </a:solidFill>
                <a:highlight>
                  <a:srgbClr val="ED9494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is_verified</a:t>
            </a:r>
            <a:r>
              <a:rPr lang="en-US" sz="12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, </a:t>
            </a:r>
            <a:r>
              <a:rPr lang="en-US" sz="1250" dirty="0">
                <a:solidFill>
                  <a:srgbClr val="272525"/>
                </a:solidFill>
                <a:highlight>
                  <a:srgbClr val="ED9494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subscribers_count</a:t>
            </a:r>
            <a:r>
              <a:rPr lang="en-US" sz="12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, </a:t>
            </a:r>
            <a:r>
              <a:rPr lang="en-US" sz="1250" dirty="0">
                <a:solidFill>
                  <a:srgbClr val="272525"/>
                </a:solidFill>
                <a:highlight>
                  <a:srgbClr val="ED9494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has_mobile</a:t>
            </a:r>
            <a:r>
              <a:rPr lang="en-US" sz="12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93790" y="6174819"/>
            <a:ext cx="130428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Step 9: Model Deployment Preparation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93790" y="6607492"/>
            <a:ext cx="130428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Saved the trained model using </a:t>
            </a:r>
            <a:r>
              <a:rPr lang="en-US" sz="1250" dirty="0">
                <a:solidFill>
                  <a:srgbClr val="272525"/>
                </a:solidFill>
                <a:highlight>
                  <a:srgbClr val="ED9494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.joblib</a:t>
            </a:r>
            <a:r>
              <a:rPr lang="en-US" sz="12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3790" y="6917055"/>
            <a:ext cx="130428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Saved feature order for consistent inference.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93790" y="7226618"/>
            <a:ext cx="130428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Built a reusable preprocessing + inference pipeline for new input data.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274335-C97B-5258-107C-8669E6F7A131}"/>
              </a:ext>
            </a:extLst>
          </p:cNvPr>
          <p:cNvSpPr txBox="1"/>
          <p:nvPr/>
        </p:nvSpPr>
        <p:spPr>
          <a:xfrm>
            <a:off x="12667785" y="7649737"/>
            <a:ext cx="1962615" cy="579863"/>
          </a:xfrm>
          <a:prstGeom prst="rect">
            <a:avLst/>
          </a:prstGeom>
          <a:solidFill>
            <a:srgbClr val="FAA1A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7490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Project Limitations</a:t>
            </a:r>
            <a:endParaRPr lang="en-US" sz="2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940362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Dataset Dependency:</a:t>
            </a:r>
            <a:r>
              <a:rPr lang="en-US" sz="17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The model is trained on a publicly available dataset, which may not perfectly represent real-world social media environments.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10836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Lack of Real-Time Data:</a:t>
            </a:r>
            <a:r>
              <a:rPr lang="en-US" sz="17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No access to live user activity such as IP logs, session duration, or login anomalies.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391346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Limited Content Analysis:</a:t>
            </a:r>
            <a:r>
              <a:rPr lang="en-US" sz="17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The project uses metadata and behavioral features only; no NLP on posts, captions, or comments.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471856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Imbalanced Posting Features:</a:t>
            </a:r>
            <a:r>
              <a:rPr lang="en-US" sz="17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Many accounts had no posting activity, requiring imputation which may affect precision.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552366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Generalizability Concerns:</a:t>
            </a:r>
            <a:r>
              <a:rPr lang="en-US" sz="17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Model performance may drop if applied to different platforms with different user behaviors.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90" y="632876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Feature Restrictions:</a:t>
            </a:r>
            <a:r>
              <a:rPr lang="en-US" sz="17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Only structured features were used; images, profile descriptions, and deep-learning signals were not included.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B93194-7634-3F77-1E63-964E91EACE16}"/>
              </a:ext>
            </a:extLst>
          </p:cNvPr>
          <p:cNvSpPr txBox="1"/>
          <p:nvPr/>
        </p:nvSpPr>
        <p:spPr>
          <a:xfrm>
            <a:off x="12667785" y="7649737"/>
            <a:ext cx="1962615" cy="579863"/>
          </a:xfrm>
          <a:prstGeom prst="rect">
            <a:avLst/>
          </a:prstGeom>
          <a:solidFill>
            <a:srgbClr val="D8AFF8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788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References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32029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Kaggle Dataset:</a:t>
            </a:r>
            <a:r>
              <a:rPr lang="en-US" sz="17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Public dataset used for training fake vs real account classification.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12539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Scikit-Learn Documentation:</a:t>
            </a:r>
            <a:r>
              <a:rPr lang="en-US" sz="17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Algorithms, evaluation metrics, and preprocessing utilities.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393049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Python Libraries:</a:t>
            </a:r>
            <a:r>
              <a:rPr lang="en-US" sz="17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pandas, NumPy, matplotlib, seaborn, joblib.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473559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Research Articles on Bot/Fake Account Detection:</a:t>
            </a:r>
            <a:r>
              <a:rPr lang="en-US" sz="17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Studies focusing on machine learning for social media security.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554069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GitHub Repositories:</a:t>
            </a:r>
            <a:r>
              <a:rPr lang="en-US" sz="17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Open-source implementations of bot detection approaches.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90" y="634579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Academic Notes &amp; Course Material:</a:t>
            </a:r>
            <a:r>
              <a:rPr lang="en-US" sz="17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Guidance on supervised learning, feature engineering, and model evaluation.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4DE8FF-F546-1DA8-18B7-09596B7898C1}"/>
              </a:ext>
            </a:extLst>
          </p:cNvPr>
          <p:cNvSpPr txBox="1"/>
          <p:nvPr/>
        </p:nvSpPr>
        <p:spPr>
          <a:xfrm>
            <a:off x="12667785" y="7649737"/>
            <a:ext cx="1962615" cy="579863"/>
          </a:xfrm>
          <a:prstGeom prst="rect">
            <a:avLst/>
          </a:prstGeom>
          <a:solidFill>
            <a:srgbClr val="AFCBF8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6513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Acknowledgement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22754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We would like to express our sincere gratitude to: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66974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Mrs. Geetika Sethi</a:t>
            </a:r>
            <a:r>
              <a:rPr lang="en-US" sz="17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for providing guidance, feedback, and direction throughout the project.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11194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Team members</a:t>
            </a:r>
            <a:r>
              <a:rPr lang="en-US" sz="17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for their collaboration, contribution, and consistent effort.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455414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The </a:t>
            </a:r>
            <a:r>
              <a:rPr lang="en-US" sz="175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Kaggle community</a:t>
            </a:r>
            <a:r>
              <a:rPr lang="en-US" sz="17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for providing publicly accessible datasets.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499633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The </a:t>
            </a:r>
            <a:r>
              <a:rPr lang="en-US" sz="1750" b="1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open-source developer community</a:t>
            </a:r>
            <a:r>
              <a:rPr lang="en-US" sz="17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behind Python libraries such as pandas, NumPy, scikit-learn, and matplotlib.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90" y="580143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Their support played a crucial role in the successful completion of this project.</a:t>
            </a:r>
            <a:endParaRPr lang="en-US" sz="1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8925D2-03FA-DD33-7E24-63205B83AD1A}"/>
              </a:ext>
            </a:extLst>
          </p:cNvPr>
          <p:cNvSpPr txBox="1"/>
          <p:nvPr/>
        </p:nvSpPr>
        <p:spPr>
          <a:xfrm>
            <a:off x="12667785" y="7649737"/>
            <a:ext cx="1962615" cy="579863"/>
          </a:xfrm>
          <a:prstGeom prst="rect">
            <a:avLst/>
          </a:prstGeom>
          <a:solidFill>
            <a:srgbClr val="AEE4BD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4491" y="3405902"/>
            <a:ext cx="11341298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150"/>
              </a:lnSpc>
              <a:buNone/>
            </a:pPr>
            <a:r>
              <a:rPr lang="en-US" sz="8900" b="1" dirty="0">
                <a:solidFill>
                  <a:srgbClr val="FFFFFF"/>
                </a:solidFill>
                <a:latin typeface="Abadi" panose="020F0502020204030204" pitchFamily="34" charset="0"/>
                <a:ea typeface="Inter Bold" pitchFamily="34" charset="-122"/>
                <a:cs typeface="Inter Bold" pitchFamily="34" charset="-120"/>
              </a:rPr>
              <a:t>THANK YOU</a:t>
            </a:r>
            <a:endParaRPr lang="en-US" sz="8900" dirty="0">
              <a:latin typeface="Abad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08CFE0-8071-FD34-1354-A56AC82F39D3}"/>
              </a:ext>
            </a:extLst>
          </p:cNvPr>
          <p:cNvSpPr txBox="1"/>
          <p:nvPr/>
        </p:nvSpPr>
        <p:spPr>
          <a:xfrm>
            <a:off x="12667785" y="7649737"/>
            <a:ext cx="1962615" cy="57986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860</Words>
  <Application>Microsoft Office PowerPoint</Application>
  <PresentationFormat>Custom</PresentationFormat>
  <Paragraphs>93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Abadi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Akshat Arora</cp:lastModifiedBy>
  <cp:revision>4</cp:revision>
  <dcterms:created xsi:type="dcterms:W3CDTF">2025-12-19T11:11:19Z</dcterms:created>
  <dcterms:modified xsi:type="dcterms:W3CDTF">2025-12-19T11:16:09Z</dcterms:modified>
</cp:coreProperties>
</file>